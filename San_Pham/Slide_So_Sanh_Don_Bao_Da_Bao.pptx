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926080" cy="36576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E7D32"/>
                </a:solidFill>
              </a:defRPr>
            </a:pPr>
            <a:r>
              <a:t>🌱 KHOA HỌC TỰ NHIÊN • SINH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VÌ SAO CƠ THỂ ĐA BÀO CẦN NHIỀU TẾ BÀO CHUYÊN HOÁ?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</a:defRPr>
            </a:pPr>
            <a:r>
              <a:t>So sánh đặc điểm trao đổi chất &amp; quy luật tỉ lệ S/V giữa Cơ thể đơn bào và Cơ thể đa bào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3949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394960" cy="594360"/>
          </a:xfrm>
          <a:prstGeom prst="roundRect">
            <a:avLst/>
          </a:prstGeom>
          <a:solidFill>
            <a:srgbClr val="109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CƠ THỂ ĐƠN BÀO (Ví dụ: Trùng biến hình)</a:t>
            </a:r>
          </a:p>
        </p:txBody>
      </p:sp>
      <p:pic>
        <p:nvPicPr>
          <p:cNvPr id="9" name="Picture 8" descr="amoe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468880"/>
            <a:ext cx="1645920" cy="12829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2423160"/>
            <a:ext cx="32918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100">
                <a:solidFill>
                  <a:srgbClr val="065F46"/>
                </a:solidFill>
              </a:rPr>
              <a:t>• Kích thước cơ thể:</a:t>
            </a:r>
            <a:r>
              <a:rPr b="0" sz="1050">
                <a:solidFill>
                  <a:srgbClr val="1F2937"/>
                </a:solidFill>
              </a:rPr>
              <a:t> Rất nhỏ (kích thước hiển vi).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65F46"/>
                </a:solidFill>
              </a:rPr>
              <a:t>• Tỉ lệ S/V (Diện tích / Thể tích):</a:t>
            </a:r>
            <a:r>
              <a:rPr b="0" sz="1050">
                <a:solidFill>
                  <a:srgbClr val="1F2937"/>
                </a:solidFill>
              </a:rPr>
              <a:t> RẤT LỚN (diện tích tiếp xúc môi trường lớn so với thể tích).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65F46"/>
                </a:solidFill>
              </a:rPr>
              <a:t>• Cơ chế trao đổi chất:</a:t>
            </a:r>
            <a:r>
              <a:rPr b="0" sz="1050">
                <a:solidFill>
                  <a:srgbClr val="1F2937"/>
                </a:solidFill>
              </a:rPr>
              <a:t> Dinh dưỡng &amp; chất thải dễ dàng khuếch tán TRỰC TIẾP qua màng sinh chất.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65F46"/>
                </a:solidFill>
              </a:rPr>
              <a:t>• Tốc độ trao đổi chất:</a:t>
            </a:r>
            <a:r>
              <a:rPr b="0" sz="1050">
                <a:solidFill>
                  <a:srgbClr val="1F2937"/>
                </a:solidFill>
              </a:rPr>
              <a:t> Nhanh chóng, đáp ứng đầy đủ và kịp thời mọi nhu cầu sống.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65F46"/>
                </a:solidFill>
              </a:rPr>
              <a:t>• Mức độ chuyên hoá:</a:t>
            </a:r>
            <a:r>
              <a:rPr b="0" sz="1050">
                <a:solidFill>
                  <a:srgbClr val="1F2937"/>
                </a:solidFill>
              </a:rPr>
              <a:t> KHÔNG CÓ tế bào chuyên hoá (1 tế bào đảm đương toàn bộ hoạt động sống).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37360"/>
            <a:ext cx="53949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8095" y="1737360"/>
            <a:ext cx="5394960" cy="59436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CƠ THỂ ĐA BÀO (Ví dụ: Con voi, con gà, con người...)</a:t>
            </a:r>
          </a:p>
        </p:txBody>
      </p:sp>
      <p:pic>
        <p:nvPicPr>
          <p:cNvPr id="13" name="Picture 12" descr="eleph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2468880"/>
            <a:ext cx="1508760" cy="16165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30975" y="2423160"/>
            <a:ext cx="3383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100">
                <a:solidFill>
                  <a:srgbClr val="1E3A8A"/>
                </a:solidFill>
              </a:rPr>
              <a:t>• Kích thước cơ thể:</a:t>
            </a:r>
            <a:r>
              <a:rPr b="0" sz="1050">
                <a:solidFill>
                  <a:srgbClr val="1F2937"/>
                </a:solidFill>
              </a:rPr>
              <a:t> Thường có kích thước rất lớn.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E3A8A"/>
                </a:solidFill>
              </a:rPr>
              <a:t>• Tỉ lệ S/V (Diện tích / Thể tích):</a:t>
            </a:r>
            <a:r>
              <a:rPr b="0" sz="1050">
                <a:solidFill>
                  <a:srgbClr val="1F2937"/>
                </a:solidFill>
              </a:rPr>
              <a:t> RẤT NHỎ (diện tích bề mặt rất nhỏ so với thể tích khổng lồ).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E3A8A"/>
                </a:solidFill>
              </a:rPr>
              <a:t>• Cơ chế trao đổi chất:</a:t>
            </a:r>
            <a:r>
              <a:rPr b="0" sz="1050">
                <a:solidFill>
                  <a:srgbClr val="1F2937"/>
                </a:solidFill>
              </a:rPr>
              <a:t> Vận chuyển trực tiếp qua màng ngoài KHÔNG ĐỦ cho các tế bào sâu bên trong.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E3A8A"/>
                </a:solidFill>
              </a:rPr>
              <a:t>• Tốc độ trao đổi chất:</a:t>
            </a:r>
            <a:r>
              <a:rPr b="0" sz="1050">
                <a:solidFill>
                  <a:srgbClr val="1F2937"/>
                </a:solidFill>
              </a:rPr>
              <a:t> Khuếch tán thụ động quá chậm, không cung cấp kịp dưỡng chất &amp; oxi.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E3A8A"/>
                </a:solidFill>
              </a:rPr>
              <a:t>• Mức độ chuyên hoá:</a:t>
            </a:r>
            <a:r>
              <a:rPr b="0" sz="1050">
                <a:solidFill>
                  <a:srgbClr val="1F2937"/>
                </a:solidFill>
              </a:rPr>
              <a:t> BẮT BUỘC có các tế bào chuyên hoá (tuần hoàn, hô hấp, tiêu hoá, bài tiết...) để vận chuyển chất.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833872"/>
            <a:ext cx="11094415" cy="868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B45309"/>
                </a:solidFill>
              </a:rPr>
              <a:t>💡 BẢN CHẤT SINH HỌC CỐT LÕI: </a:t>
            </a:r>
            <a:r>
              <a:rPr sz="1100" b="0">
                <a:solidFill>
                  <a:srgbClr val="78350F"/>
                </a:solidFill>
              </a:rPr>
              <a:t>Kích thước cơ thể càng lớn ➔ Tỉ lệ S/V càng giảm ➔ Bề mặt tiếp xúc không đủ để trao đổi chất trực tiếp cho các tế bào bên trong ➔ Cơ thể đa bào bắt buộc phải tiến hóa hệ thống CÁC TẾ BÀO VÀ HỆ CƠ QUAN CHUYÊN HOÁ để đảm bảo nuôi dưỡng toàn bộ cơ thể.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